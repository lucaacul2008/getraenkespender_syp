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BC3394-74C5-4C60-8314-A1AA49085B26}" v="82" dt="2026-03-18T15:06:53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B717F6-967A-4A9D-9DF5-8DA32DD0CF09}" type="datetimeFigureOut">
              <a:t>18.03.2026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D56489-AA7D-4F0A-8DC3-A447CACB105D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9329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400">
                <a:solidFill>
                  <a:srgbClr val="FFFFFF"/>
                </a:solidFill>
                <a:latin typeface="Arial Black"/>
              </a:rPr>
              <a:t>GETRÄNKEMISCHER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err="1">
                <a:solidFill>
                  <a:srgbClr val="00D4AA"/>
                </a:solidFill>
                <a:latin typeface="Calibri"/>
                <a:ea typeface="Calibri"/>
                <a:cs typeface="Calibri"/>
              </a:rPr>
              <a:t>Zwischenpräsentation</a:t>
            </a:r>
            <a:r>
              <a:rPr lang="en-US" sz="1800" dirty="0">
                <a:solidFill>
                  <a:srgbClr val="00D4AA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en-US" sz="1800" dirty="0" err="1">
                <a:solidFill>
                  <a:srgbClr val="00D4AA"/>
                </a:solidFill>
                <a:latin typeface="Calibri"/>
                <a:ea typeface="Calibri"/>
                <a:cs typeface="Calibri"/>
              </a:rPr>
              <a:t>Projektstand</a:t>
            </a:r>
            <a:r>
              <a:rPr lang="en-US" sz="1800" dirty="0">
                <a:solidFill>
                  <a:srgbClr val="00D4A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>
                <a:solidFill>
                  <a:srgbClr val="00D4AA"/>
                </a:solidFill>
                <a:latin typeface="Calibri"/>
                <a:ea typeface="Calibri"/>
                <a:cs typeface="Calibri"/>
              </a:rPr>
              <a:t>März</a:t>
            </a:r>
            <a:r>
              <a:rPr lang="en-US" sz="1800" dirty="0">
                <a:solidFill>
                  <a:srgbClr val="00D4AA"/>
                </a:solidFill>
                <a:latin typeface="Calibri"/>
                <a:ea typeface="Calibri"/>
                <a:cs typeface="Calibri"/>
              </a:rPr>
              <a:t> 2026</a:t>
            </a: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4572000" cy="1463040"/>
          </a:xfrm>
          <a:prstGeom prst="rect">
            <a:avLst/>
          </a:prstGeom>
          <a:solidFill>
            <a:srgbClr val="1826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004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Projektteam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35204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Raphael Thaler (PL)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 Aigner  ·  Lukas Gutmann  ·  Clemens Deutinger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HTL Saalfelden · SYP 2025/26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solidFill>
            <a:srgbClr val="18263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Projektuebersicht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5361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bauen wir?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38528"/>
            <a:ext cx="7680960" cy="640080"/>
          </a:xfrm>
          <a:prstGeom prst="rect">
            <a:avLst/>
          </a:prstGeom>
          <a:solidFill>
            <a:srgbClr val="1E304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3852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5920" y="1984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Aktueller Projektstand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286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funktioniert bereits?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688336"/>
            <a:ext cx="7680960" cy="640080"/>
          </a:xfrm>
          <a:prstGeom prst="rect">
            <a:avLst/>
          </a:prstGeom>
          <a:solidFill>
            <a:srgbClr val="18263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68833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27340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Verzögerungen</a:t>
            </a:r>
            <a:r>
              <a:rPr 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&amp; </a:t>
            </a:r>
            <a:r>
              <a:rPr 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Risiken</a:t>
            </a:r>
            <a:endParaRPr lang="en-US" sz="16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645920" y="30358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gibt es Probleme?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438144"/>
            <a:ext cx="7680960" cy="640080"/>
          </a:xfrm>
          <a:prstGeom prst="rect">
            <a:avLst/>
          </a:prstGeom>
          <a:solidFill>
            <a:srgbClr val="1E3045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43814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34838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Meilensteintrendanalyse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37856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Visualisierung der Trends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187952"/>
            <a:ext cx="7680960" cy="640080"/>
          </a:xfrm>
          <a:prstGeom prst="rect">
            <a:avLst/>
          </a:prstGeom>
          <a:solidFill>
            <a:srgbClr val="182635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18795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45920" y="4233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Nächste</a:t>
            </a:r>
            <a:r>
              <a:rPr 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Schritte</a:t>
            </a:r>
            <a:endParaRPr lang="en-US" sz="16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645920" y="45354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geht es weiter?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Arial Black"/>
              </a:rPr>
              <a:t>PROJEKTÜBERSICHT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D4AA"/>
                </a:solidFill>
                <a:latin typeface="Calibri"/>
                <a:ea typeface="Calibri"/>
                <a:cs typeface="Calibri"/>
              </a:rPr>
              <a:t>Was </a:t>
            </a:r>
            <a:r>
              <a:rPr lang="en-US" sz="1400" dirty="0" err="1">
                <a:solidFill>
                  <a:srgbClr val="00D4AA"/>
                </a:solidFill>
                <a:latin typeface="Calibri"/>
                <a:ea typeface="Calibri"/>
                <a:cs typeface="Calibri"/>
              </a:rPr>
              <a:t>ist</a:t>
            </a:r>
            <a:r>
              <a:rPr lang="en-US" sz="1400" dirty="0">
                <a:solidFill>
                  <a:srgbClr val="00D4AA"/>
                </a:solidFill>
                <a:latin typeface="Calibri"/>
                <a:ea typeface="Calibri"/>
                <a:cs typeface="Calibri"/>
              </a:rPr>
              <a:t> der </a:t>
            </a:r>
            <a:r>
              <a:rPr lang="en-US" sz="1400" dirty="0" err="1">
                <a:solidFill>
                  <a:srgbClr val="00D4AA"/>
                </a:solidFill>
                <a:latin typeface="Calibri"/>
                <a:ea typeface="Calibri"/>
                <a:cs typeface="Calibri"/>
              </a:rPr>
              <a:t>Getränkemischer</a:t>
            </a:r>
            <a:r>
              <a:rPr lang="en-US" sz="1400" dirty="0">
                <a:solidFill>
                  <a:srgbClr val="00D4AA"/>
                </a:solidFill>
                <a:latin typeface="Calibri"/>
                <a:ea typeface="Calibri"/>
                <a:cs typeface="Calibri"/>
              </a:rPr>
              <a:t>?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840480" cy="3200400"/>
          </a:xfrm>
          <a:prstGeom prst="rect">
            <a:avLst/>
          </a:prstGeom>
          <a:solidFill>
            <a:srgbClr val="1826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5544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Ein </a:t>
            </a:r>
            <a:r>
              <a:rPr lang="en-US" sz="13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automatisierter</a:t>
            </a:r>
            <a:r>
              <a:rPr lang="en-US" sz="13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Getränkespender</a:t>
            </a:r>
            <a:r>
              <a:rPr lang="en-US" sz="13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mit</a:t>
            </a:r>
            <a:r>
              <a:rPr lang="en-US" sz="13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ESP32-Mikrocontroller, </a:t>
            </a:r>
            <a:r>
              <a:rPr lang="en-US" sz="13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zwei</a:t>
            </a:r>
            <a:r>
              <a:rPr lang="en-US" sz="13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Pumpen</a:t>
            </a:r>
            <a:r>
              <a:rPr lang="en-US" sz="13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und </a:t>
            </a:r>
            <a:r>
              <a:rPr lang="en-US" sz="13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einer</a:t>
            </a:r>
            <a:r>
              <a:rPr lang="en-US" sz="13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React-Weboberfläche </a:t>
            </a:r>
            <a:r>
              <a:rPr lang="en-US" sz="13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zur</a:t>
            </a:r>
            <a:r>
              <a:rPr lang="en-US" sz="13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Konfiguration</a:t>
            </a:r>
            <a:r>
              <a:rPr lang="en-US" sz="13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5176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konfigurierbare Mischprofile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6324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Physische Taster + Web-Interface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7472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429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REST-API zwischen Frontend &amp; ESP32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88620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3840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Dark-Mode UI, Mobile-First Design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4846320" y="1371600"/>
            <a:ext cx="3749040" cy="685800"/>
          </a:xfrm>
          <a:prstGeom prst="rect">
            <a:avLst/>
          </a:prstGeom>
          <a:solidFill>
            <a:srgbClr val="1826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846320" y="1371600"/>
            <a:ext cx="54864" cy="685800"/>
          </a:xfrm>
          <a:prstGeom prst="rect">
            <a:avLst/>
          </a:prstGeom>
          <a:solidFill>
            <a:srgbClr val="448AFF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527048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577840" y="1417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557784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TypeScript + Vite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4846320" y="2167128"/>
            <a:ext cx="3749040" cy="685800"/>
          </a:xfrm>
          <a:prstGeom prst="rect">
            <a:avLst/>
          </a:prstGeom>
          <a:solidFill>
            <a:srgbClr val="1826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4846320" y="2167128"/>
            <a:ext cx="54864" cy="685800"/>
          </a:xfrm>
          <a:prstGeom prst="rect">
            <a:avLst/>
          </a:prstGeom>
          <a:solidFill>
            <a:srgbClr val="BB86FC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2322576"/>
            <a:ext cx="320040" cy="3200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577840" y="22128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5577840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MicroPython auf ESP32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4846320" y="2962656"/>
            <a:ext cx="3749040" cy="685800"/>
          </a:xfrm>
          <a:prstGeom prst="rect">
            <a:avLst/>
          </a:prstGeom>
          <a:solidFill>
            <a:srgbClr val="1826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4846320" y="2962656"/>
            <a:ext cx="54864" cy="68580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118104"/>
            <a:ext cx="320040" cy="32004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577840" y="30083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5577840" y="3310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3D-Druck + </a:t>
            </a:r>
            <a:r>
              <a:rPr lang="en-US" sz="10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Holzgehäuse</a:t>
            </a:r>
            <a:r>
              <a:rPr lang="en-US" sz="10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+ </a:t>
            </a:r>
            <a:r>
              <a:rPr lang="en-US" sz="10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Pumpen</a:t>
            </a:r>
            <a:endParaRPr lang="en-US" sz="10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30" name="Shape 21"/>
          <p:cNvSpPr/>
          <p:nvPr/>
        </p:nvSpPr>
        <p:spPr>
          <a:xfrm>
            <a:off x="4846320" y="3758184"/>
            <a:ext cx="3749040" cy="685800"/>
          </a:xfrm>
          <a:prstGeom prst="rect">
            <a:avLst/>
          </a:prstGeom>
          <a:solidFill>
            <a:srgbClr val="1826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846320" y="3758184"/>
            <a:ext cx="54864" cy="68580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3913632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577840" y="38039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</a:t>
            </a:r>
            <a:endParaRPr lang="en-US" sz="1300" dirty="0"/>
          </a:p>
        </p:txBody>
      </p:sp>
      <p:sp>
        <p:nvSpPr>
          <p:cNvPr id="34" name="Text 24"/>
          <p:cNvSpPr/>
          <p:nvPr/>
        </p:nvSpPr>
        <p:spPr>
          <a:xfrm>
            <a:off x="5577840" y="41056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REST-API (JSON </a:t>
            </a:r>
            <a:r>
              <a:rPr lang="en-US" sz="10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über</a:t>
            </a:r>
            <a:r>
              <a:rPr lang="en-US" sz="10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HTTP)</a:t>
            </a:r>
            <a:endParaRPr lang="en-US" sz="10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AKTUELLER PROJEKTSTAND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749040" cy="1691640"/>
          </a:xfrm>
          <a:prstGeom prst="rect">
            <a:avLst/>
          </a:prstGeom>
          <a:solidFill>
            <a:srgbClr val="1826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3749040" cy="4572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463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1645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60120" y="2057400"/>
            <a:ext cx="3291840" cy="164592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10" name="Shape 7"/>
          <p:cNvSpPr/>
          <p:nvPr/>
        </p:nvSpPr>
        <p:spPr>
          <a:xfrm>
            <a:off x="960120" y="2057400"/>
            <a:ext cx="3291840" cy="16459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8"/>
          <p:cNvSpPr/>
          <p:nvPr/>
        </p:nvSpPr>
        <p:spPr>
          <a:xfrm>
            <a:off x="3291840" y="13533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6012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Dashboard, Konfiguration, Navigation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0" y="1188720"/>
            <a:ext cx="3749040" cy="1691640"/>
          </a:xfrm>
          <a:prstGeom prst="rect">
            <a:avLst/>
          </a:prstGeom>
          <a:solidFill>
            <a:srgbClr val="1826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1188720"/>
            <a:ext cx="3749040" cy="4572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4630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86400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(ESP32)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486400" y="1645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983480" y="2057400"/>
            <a:ext cx="3291840" cy="164592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19" name="Shape 15"/>
          <p:cNvSpPr/>
          <p:nvPr/>
        </p:nvSpPr>
        <p:spPr>
          <a:xfrm>
            <a:off x="4983480" y="2057400"/>
            <a:ext cx="3291840" cy="16459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0" name="Text 16"/>
          <p:cNvSpPr/>
          <p:nvPr/>
        </p:nvSpPr>
        <p:spPr>
          <a:xfrm>
            <a:off x="7315200" y="13533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98348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Pumpensteuerung, Webserver, Config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731520" y="3063240"/>
            <a:ext cx="3749040" cy="1691640"/>
          </a:xfrm>
          <a:prstGeom prst="rect">
            <a:avLst/>
          </a:prstGeom>
          <a:solidFill>
            <a:srgbClr val="1826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31520" y="3063240"/>
            <a:ext cx="3749040" cy="45720"/>
          </a:xfrm>
          <a:prstGeom prst="rect">
            <a:avLst/>
          </a:prstGeom>
          <a:solidFill>
            <a:srgbClr val="FF4466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33756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6304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Designphase (CAD)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463040" y="3520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4466"/>
                </a:solidFill>
                <a:latin typeface="Calibri"/>
                <a:ea typeface="Calibri"/>
                <a:cs typeface="Calibri"/>
              </a:rPr>
              <a:t>Verzögert</a:t>
            </a:r>
            <a:endParaRPr lang="en-US" sz="1100" dirty="0" err="1"/>
          </a:p>
        </p:txBody>
      </p:sp>
      <p:sp>
        <p:nvSpPr>
          <p:cNvPr id="27" name="Shape 22"/>
          <p:cNvSpPr/>
          <p:nvPr/>
        </p:nvSpPr>
        <p:spPr>
          <a:xfrm>
            <a:off x="960120" y="3931920"/>
            <a:ext cx="3291840" cy="164592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28" name="Shape 23"/>
          <p:cNvSpPr/>
          <p:nvPr/>
        </p:nvSpPr>
        <p:spPr>
          <a:xfrm>
            <a:off x="960120" y="3931920"/>
            <a:ext cx="1975104" cy="164592"/>
          </a:xfrm>
          <a:prstGeom prst="rect">
            <a:avLst/>
          </a:prstGeom>
          <a:solidFill>
            <a:srgbClr val="FF4466"/>
          </a:solidFill>
          <a:ln/>
        </p:spPr>
      </p:sp>
      <p:sp>
        <p:nvSpPr>
          <p:cNvPr id="29" name="Text 24"/>
          <p:cNvSpPr/>
          <p:nvPr/>
        </p:nvSpPr>
        <p:spPr>
          <a:xfrm>
            <a:off x="3291840" y="32278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FF44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960120" y="4251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CAD-Design &amp; 3D-Druck in Verzug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754880" y="3063240"/>
            <a:ext cx="3749040" cy="1691640"/>
          </a:xfrm>
          <a:prstGeom prst="rect">
            <a:avLst/>
          </a:prstGeom>
          <a:solidFill>
            <a:srgbClr val="1826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754880" y="3063240"/>
            <a:ext cx="3749040" cy="4572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337560"/>
            <a:ext cx="365760" cy="36576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48640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Gehäusemontage</a:t>
            </a:r>
            <a:endParaRPr lang="en-US" sz="1400" dirty="0" err="1"/>
          </a:p>
        </p:txBody>
      </p:sp>
      <p:sp>
        <p:nvSpPr>
          <p:cNvPr id="35" name="Text 29"/>
          <p:cNvSpPr/>
          <p:nvPr/>
        </p:nvSpPr>
        <p:spPr>
          <a:xfrm>
            <a:off x="5486400" y="3520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6B35"/>
                </a:solidFill>
                <a:latin typeface="Calibri"/>
                <a:ea typeface="Calibri"/>
                <a:cs typeface="Calibri"/>
              </a:rPr>
              <a:t>Verzögert</a:t>
            </a:r>
            <a:endParaRPr lang="en-US" sz="1100" dirty="0" err="1"/>
          </a:p>
        </p:txBody>
      </p:sp>
      <p:sp>
        <p:nvSpPr>
          <p:cNvPr id="36" name="Shape 30"/>
          <p:cNvSpPr/>
          <p:nvPr/>
        </p:nvSpPr>
        <p:spPr>
          <a:xfrm>
            <a:off x="4983480" y="3931920"/>
            <a:ext cx="3291840" cy="164592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37" name="Shape 31"/>
          <p:cNvSpPr/>
          <p:nvPr/>
        </p:nvSpPr>
        <p:spPr>
          <a:xfrm>
            <a:off x="4983480" y="3931920"/>
            <a:ext cx="1316736" cy="1645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8" name="Text 32"/>
          <p:cNvSpPr/>
          <p:nvPr/>
        </p:nvSpPr>
        <p:spPr>
          <a:xfrm>
            <a:off x="7315200" y="32278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1800" dirty="0"/>
          </a:p>
        </p:txBody>
      </p:sp>
      <p:sp>
        <p:nvSpPr>
          <p:cNvPr id="39" name="Text 33"/>
          <p:cNvSpPr/>
          <p:nvPr/>
        </p:nvSpPr>
        <p:spPr>
          <a:xfrm>
            <a:off x="4983480" y="4251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Abhängig</a:t>
            </a:r>
            <a:r>
              <a:rPr lang="en-US" sz="10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von </a:t>
            </a:r>
            <a:r>
              <a:rPr lang="en-US" sz="10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Designphase</a:t>
            </a:r>
            <a:r>
              <a:rPr lang="en-US" sz="10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, Montage </a:t>
            </a:r>
            <a:r>
              <a:rPr lang="en-US" sz="10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offen</a:t>
            </a:r>
            <a:endParaRPr lang="en-US" sz="1000" dirty="0" err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VERZÖGERUNGEN &amp; RISIKEN</a:t>
            </a:r>
            <a:endParaRPr lang="en-US" sz="3200">
              <a:latin typeface="Arial Black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463040"/>
          </a:xfrm>
          <a:prstGeom prst="rect">
            <a:avLst/>
          </a:prstGeom>
          <a:solidFill>
            <a:srgbClr val="1826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1463040"/>
          </a:xfrm>
          <a:prstGeom prst="rect">
            <a:avLst/>
          </a:prstGeom>
          <a:solidFill>
            <a:srgbClr val="FF446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Designphase (CAD &amp; 3D-Druck)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KRITISCH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00200" y="169164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Plan: 27.02.2026   →   </a:t>
            </a:r>
            <a:r>
              <a:rPr lang="en-US" sz="12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Aktuell</a:t>
            </a:r>
            <a:r>
              <a:rPr lang="en-US" sz="12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: ca. 27.03.2026 (+4 </a:t>
            </a:r>
            <a:r>
              <a:rPr lang="en-US" sz="12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Wochen</a:t>
            </a:r>
            <a:r>
              <a:rPr lang="en-US" sz="12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2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Ursache: CAD-</a:t>
            </a:r>
            <a:r>
              <a:rPr lang="en-US" sz="12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Modellierung</a:t>
            </a:r>
            <a:r>
              <a:rPr lang="en-US" sz="12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komplexer</a:t>
            </a:r>
            <a:r>
              <a:rPr lang="en-US" sz="12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als</a:t>
            </a:r>
            <a:r>
              <a:rPr lang="en-US" sz="12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erwartet</a:t>
            </a:r>
            <a:r>
              <a:rPr lang="en-US" sz="12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, 3D-Druck-Iterationen </a:t>
            </a:r>
            <a:r>
              <a:rPr lang="en-US" sz="12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nötig</a:t>
            </a:r>
            <a:endParaRPr lang="en-US" sz="1200" dirty="0" err="1"/>
          </a:p>
          <a:p>
            <a:pPr marL="0" indent="0">
              <a:buNone/>
            </a:pPr>
            <a:r>
              <a:rPr lang="en-US" sz="1200" dirty="0" err="1">
                <a:solidFill>
                  <a:srgbClr val="FF6B35"/>
                </a:solidFill>
                <a:latin typeface="Calibri"/>
                <a:ea typeface="Calibri"/>
                <a:cs typeface="Calibri"/>
              </a:rPr>
              <a:t>Auswirkung</a:t>
            </a:r>
            <a:r>
              <a:rPr lang="en-US" sz="1200" dirty="0">
                <a:solidFill>
                  <a:srgbClr val="FF6B35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200" dirty="0" err="1">
                <a:solidFill>
                  <a:srgbClr val="FF6B35"/>
                </a:solidFill>
                <a:latin typeface="Calibri"/>
                <a:ea typeface="Calibri"/>
                <a:cs typeface="Calibri"/>
              </a:rPr>
              <a:t>Gehäusemontage</a:t>
            </a:r>
            <a:r>
              <a:rPr lang="en-US" sz="1200" dirty="0">
                <a:solidFill>
                  <a:srgbClr val="FF6B35"/>
                </a:solidFill>
                <a:latin typeface="Calibri"/>
                <a:ea typeface="Calibri"/>
                <a:cs typeface="Calibri"/>
              </a:rPr>
              <a:t> und </a:t>
            </a:r>
            <a:r>
              <a:rPr lang="en-US" sz="1200" dirty="0" err="1">
                <a:solidFill>
                  <a:srgbClr val="FF6B35"/>
                </a:solidFill>
                <a:latin typeface="Calibri"/>
                <a:ea typeface="Calibri"/>
                <a:cs typeface="Calibri"/>
              </a:rPr>
              <a:t>finaler</a:t>
            </a:r>
            <a:r>
              <a:rPr lang="en-US" sz="1200" dirty="0">
                <a:solidFill>
                  <a:srgbClr val="FF6B3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FF6B35"/>
                </a:solidFill>
                <a:latin typeface="Calibri"/>
                <a:ea typeface="Calibri"/>
                <a:cs typeface="Calibri"/>
              </a:rPr>
              <a:t>Zusammenbau</a:t>
            </a:r>
            <a:r>
              <a:rPr lang="en-US" sz="1200" dirty="0">
                <a:solidFill>
                  <a:srgbClr val="FF6B3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FF6B35"/>
                </a:solidFill>
                <a:latin typeface="Calibri"/>
                <a:ea typeface="Calibri"/>
                <a:cs typeface="Calibri"/>
              </a:rPr>
              <a:t>verzögern</a:t>
            </a:r>
            <a:r>
              <a:rPr lang="en-US" sz="1200" dirty="0">
                <a:solidFill>
                  <a:srgbClr val="FF6B3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FF6B35"/>
                </a:solidFill>
                <a:latin typeface="Calibri"/>
                <a:ea typeface="Calibri"/>
                <a:cs typeface="Calibri"/>
              </a:rPr>
              <a:t>sich</a:t>
            </a:r>
            <a:endParaRPr lang="en-US" sz="12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31520" y="2880360"/>
            <a:ext cx="7680960" cy="1280160"/>
          </a:xfrm>
          <a:prstGeom prst="rect">
            <a:avLst/>
          </a:prstGeom>
          <a:solidFill>
            <a:srgbClr val="1826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880360"/>
            <a:ext cx="54864" cy="128016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0632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Gehäusemontage</a:t>
            </a:r>
            <a:endParaRPr lang="en-US" sz="1600" dirty="0" err="1"/>
          </a:p>
        </p:txBody>
      </p:sp>
      <p:sp>
        <p:nvSpPr>
          <p:cNvPr id="14" name="Text 10"/>
          <p:cNvSpPr/>
          <p:nvPr/>
        </p:nvSpPr>
        <p:spPr>
          <a:xfrm>
            <a:off x="6858000" y="2971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WARNUNG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600200" y="33832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27.03.2026   →   Aktuell: ca. 08.04.2026 (+12 Tage)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Blockiert durch Designphase — Montage kann erst nach Fertigstellung der 3D-Teile starten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31520" y="4389120"/>
            <a:ext cx="7680960" cy="502920"/>
          </a:xfrm>
          <a:prstGeom prst="rect">
            <a:avLst/>
          </a:prstGeom>
          <a:solidFill>
            <a:srgbClr val="0C2E28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45312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43891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/>
                <a:ea typeface="Calibri"/>
                <a:cs typeface="Calibri"/>
              </a:rPr>
              <a:t>Frontend &amp; Backend </a:t>
            </a:r>
            <a:r>
              <a:rPr lang="en-US" sz="1200" b="1" dirty="0" err="1">
                <a:solidFill>
                  <a:srgbClr val="00D4AA"/>
                </a:solidFill>
                <a:latin typeface="Calibri"/>
                <a:ea typeface="Calibri"/>
                <a:cs typeface="Calibri"/>
              </a:rPr>
              <a:t>vorplanmäßig</a:t>
            </a:r>
            <a:r>
              <a:rPr lang="en-US" sz="1200" b="1" dirty="0">
                <a:solidFill>
                  <a:srgbClr val="00D4A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b="1" dirty="0" err="1">
                <a:solidFill>
                  <a:srgbClr val="00D4AA"/>
                </a:solidFill>
                <a:latin typeface="Calibri"/>
                <a:ea typeface="Calibri"/>
                <a:cs typeface="Calibri"/>
              </a:rPr>
              <a:t>fertig</a:t>
            </a:r>
            <a:r>
              <a:rPr lang="en-US" sz="1200" b="1" dirty="0">
                <a:solidFill>
                  <a:srgbClr val="00D4AA"/>
                </a:solidFill>
                <a:latin typeface="Calibri"/>
                <a:ea typeface="Calibri"/>
                <a:cs typeface="Calibri"/>
              </a:rPr>
              <a:t> — Software-</a:t>
            </a:r>
            <a:r>
              <a:rPr lang="en-US" sz="1200" b="1" dirty="0" err="1">
                <a:solidFill>
                  <a:srgbClr val="00D4AA"/>
                </a:solidFill>
                <a:latin typeface="Calibri"/>
                <a:ea typeface="Calibri"/>
                <a:cs typeface="Calibri"/>
              </a:rPr>
              <a:t>Seite</a:t>
            </a:r>
            <a:r>
              <a:rPr lang="en-US" sz="1200" b="1" dirty="0">
                <a:solidFill>
                  <a:srgbClr val="00D4A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b="1" dirty="0" err="1">
                <a:solidFill>
                  <a:srgbClr val="00D4AA"/>
                </a:solidFill>
                <a:latin typeface="Calibri"/>
                <a:ea typeface="Calibri"/>
                <a:cs typeface="Calibri"/>
              </a:rPr>
              <a:t>kein</a:t>
            </a:r>
            <a:r>
              <a:rPr lang="en-US" sz="1200" b="1" dirty="0">
                <a:solidFill>
                  <a:srgbClr val="00D4AA"/>
                </a:solidFill>
                <a:latin typeface="Calibri"/>
                <a:ea typeface="Calibri"/>
                <a:cs typeface="Calibri"/>
              </a:rPr>
              <a:t> Risiko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MEILENSTEINTRENDANALYSE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Trend der </a:t>
            </a:r>
            <a:r>
              <a:rPr lang="en-US" sz="13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Meilenstein</a:t>
            </a:r>
            <a:r>
              <a:rPr lang="en-US" sz="13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-Termine </a:t>
            </a:r>
            <a:r>
              <a:rPr lang="en-US" sz="13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über</a:t>
            </a:r>
            <a:r>
              <a:rPr lang="en-US" sz="13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die </a:t>
            </a:r>
            <a:r>
              <a:rPr lang="en-US" sz="13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Berichtszeitraeume</a:t>
            </a:r>
            <a:endParaRPr lang="en-US" sz="1300" dirty="0" err="1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16950"/>
              </p:ext>
            </p:extLst>
          </p:nvPr>
        </p:nvGraphicFramePr>
        <p:xfrm>
          <a:off x="731520" y="1371600"/>
          <a:ext cx="7680960" cy="24231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Meilenstein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Aktuell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Designphase abgeschlossen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27.02.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27.03.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 Wochen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↗ steigend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HW &amp; </a:t>
                      </a:r>
                      <a:r>
                        <a:rPr lang="en-US" sz="1000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Gehäuse</a:t>
                      </a: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montiert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27.03.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08.04.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 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↗ steigend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&amp; Elektronik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10.04.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27.03.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–2 Wochen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↘ fallend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steuert HW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17.04.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20.03.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–4 Wochen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↘ fallend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MVP </a:t>
                      </a:r>
                      <a:r>
                        <a:rPr lang="en-US" sz="1000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funktionsfähig</a:t>
                      </a:r>
                      <a:endParaRPr lang="en-US" sz="1000" dirty="0" err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29.05.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29.05.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stabil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931920"/>
            <a:ext cx="7680960" cy="914400"/>
          </a:xfrm>
          <a:prstGeom prst="rect">
            <a:avLst/>
          </a:prstGeom>
          <a:solidFill>
            <a:srgbClr val="1826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4"/>
          <p:cNvSpPr/>
          <p:nvPr/>
        </p:nvSpPr>
        <p:spPr>
          <a:xfrm>
            <a:off x="100584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42519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Die Software-</a:t>
            </a:r>
            <a:r>
              <a:rPr lang="en-US" sz="11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Meilensteine</a:t>
            </a:r>
            <a:r>
              <a:rPr lang="en-US" sz="11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wurden</a:t>
            </a:r>
            <a:r>
              <a:rPr lang="en-US" sz="11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vorzeitig</a:t>
            </a:r>
            <a:r>
              <a:rPr lang="en-US" sz="11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erreicht</a:t>
            </a:r>
            <a:r>
              <a:rPr lang="en-US" sz="11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und </a:t>
            </a:r>
            <a:r>
              <a:rPr lang="en-US" sz="11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kompensieren</a:t>
            </a:r>
            <a:r>
              <a:rPr lang="en-US" sz="11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teilweise</a:t>
            </a:r>
            <a:r>
              <a:rPr lang="en-US" sz="11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die Hardware-</a:t>
            </a:r>
            <a:r>
              <a:rPr lang="en-US" sz="11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Verzögerungen</a:t>
            </a:r>
            <a:r>
              <a:rPr lang="en-US" sz="11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. Der MVP-Termin (29.05.) </a:t>
            </a:r>
            <a:r>
              <a:rPr lang="en-US" sz="11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bleibt</a:t>
            </a:r>
            <a:r>
              <a:rPr lang="en-US" sz="11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realistisch</a:t>
            </a:r>
            <a:r>
              <a:rPr lang="en-US" sz="11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NÄCHSTE SCHRITTE</a:t>
            </a:r>
            <a:endParaRPr lang="en-US" sz="3200">
              <a:latin typeface="Arial Black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658368"/>
          </a:xfrm>
          <a:prstGeom prst="rect">
            <a:avLst/>
          </a:prstGeom>
          <a:solidFill>
            <a:srgbClr val="1826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207008"/>
            <a:ext cx="438912" cy="438912"/>
          </a:xfrm>
          <a:prstGeom prst="ellipse">
            <a:avLst/>
          </a:prstGeom>
          <a:solidFill>
            <a:srgbClr val="FF446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207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9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143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Designphase abschliessen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444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CAD-Modelle </a:t>
            </a:r>
            <a:r>
              <a:rPr lang="en-US" sz="10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finalisieren</a:t>
            </a:r>
            <a:r>
              <a:rPr lang="en-US" sz="10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, 3D-Druck </a:t>
            </a:r>
            <a:r>
              <a:rPr lang="en-US" sz="10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abschließen</a:t>
            </a:r>
            <a:endParaRPr lang="en-US" sz="1000" dirty="0" err="1"/>
          </a:p>
        </p:txBody>
      </p:sp>
      <p:sp>
        <p:nvSpPr>
          <p:cNvPr id="9" name="Text 7"/>
          <p:cNvSpPr/>
          <p:nvPr/>
        </p:nvSpPr>
        <p:spPr>
          <a:xfrm>
            <a:off x="5943600" y="11430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 13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0" y="1444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Clemens (DT01)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1865376"/>
            <a:ext cx="7680960" cy="658368"/>
          </a:xfrm>
          <a:prstGeom prst="rect">
            <a:avLst/>
          </a:prstGeom>
          <a:solidFill>
            <a:srgbClr val="1826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0120" y="1975104"/>
            <a:ext cx="438912" cy="43891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1975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9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19110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Gehäusemontage</a:t>
            </a: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&amp; </a:t>
            </a:r>
            <a:r>
              <a:rPr lang="en-US" sz="1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Verkabelung</a:t>
            </a:r>
            <a:endParaRPr lang="en-US" sz="14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600200" y="2212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Gehäuse</a:t>
            </a:r>
            <a:r>
              <a:rPr lang="en-US" sz="10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zusammenbauen</a:t>
            </a:r>
            <a:r>
              <a:rPr lang="en-US" sz="10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, Elektronik </a:t>
            </a:r>
            <a:r>
              <a:rPr lang="en-US" sz="10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integrieren</a:t>
            </a:r>
            <a:endParaRPr lang="en-US" sz="10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0" y="19110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 14–15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0" y="2212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Lukas (HWT01)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2633472"/>
            <a:ext cx="7680960" cy="658368"/>
          </a:xfrm>
          <a:prstGeom prst="rect">
            <a:avLst/>
          </a:prstGeom>
          <a:solidFill>
            <a:srgbClr val="1826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0120" y="2743200"/>
            <a:ext cx="438912" cy="438912"/>
          </a:xfrm>
          <a:prstGeom prst="ellipse">
            <a:avLst/>
          </a:prstGeom>
          <a:solidFill>
            <a:srgbClr val="448AFF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9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2679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Funktionstest (Trocken)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00200" y="29809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Software-Hardware-Integration </a:t>
            </a:r>
            <a:r>
              <a:rPr lang="en-US" sz="10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prüfen</a:t>
            </a:r>
            <a:endParaRPr lang="en-US" sz="1000" dirty="0" err="1"/>
          </a:p>
        </p:txBody>
      </p:sp>
      <p:sp>
        <p:nvSpPr>
          <p:cNvPr id="23" name="Text 21"/>
          <p:cNvSpPr/>
          <p:nvPr/>
        </p:nvSpPr>
        <p:spPr>
          <a:xfrm>
            <a:off x="5943600" y="26791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 15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0" y="29809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 + Raphael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3401568"/>
            <a:ext cx="7680960" cy="658368"/>
          </a:xfrm>
          <a:prstGeom prst="rect">
            <a:avLst/>
          </a:prstGeom>
          <a:solidFill>
            <a:srgbClr val="1826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60120" y="3511296"/>
            <a:ext cx="438912" cy="438912"/>
          </a:xfrm>
          <a:prstGeom prst="ellipse">
            <a:avLst/>
          </a:prstGeom>
          <a:solidFill>
            <a:srgbClr val="BB86FC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35112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9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00200" y="34472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Wassertest &amp; Kalibrierung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0200" y="3749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Dichtheit, Pumpen-Timing, Mengenmessung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0" y="34472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B8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 16–20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0" y="3749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Gesamtes Team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" y="4169664"/>
            <a:ext cx="7680960" cy="658368"/>
          </a:xfrm>
          <a:prstGeom prst="rect">
            <a:avLst/>
          </a:prstGeom>
          <a:solidFill>
            <a:srgbClr val="1826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60120" y="4279392"/>
            <a:ext cx="438912" cy="43891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" y="4279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9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600200" y="42153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Abschlusspraesentation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600200" y="45171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Vorbereitung</a:t>
            </a:r>
            <a:r>
              <a:rPr lang="en-US" sz="10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und </a:t>
            </a:r>
            <a:r>
              <a:rPr lang="en-US" sz="10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Präsentation</a:t>
            </a:r>
            <a:r>
              <a:rPr lang="en-US" sz="10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des </a:t>
            </a:r>
            <a:r>
              <a:rPr lang="en-US" sz="1000" dirty="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fertigen</a:t>
            </a:r>
            <a:r>
              <a:rPr lang="en-US" sz="1000" dirty="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MVP</a:t>
            </a:r>
            <a:endParaRPr lang="en-US" sz="1000" dirty="0">
              <a:latin typeface="Calibri"/>
              <a:ea typeface="Calibri"/>
              <a:cs typeface="Calibri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943600" y="42153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 25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0" y="45171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Raphael (PL)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DANKE!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2194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 &amp; Diskussion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0" y="3017520"/>
            <a:ext cx="4572000" cy="1371600"/>
          </a:xfrm>
          <a:prstGeom prst="rect">
            <a:avLst/>
          </a:prstGeom>
          <a:solidFill>
            <a:srgbClr val="18263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0" y="32004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Raphael Thaler (PL) — raphael.thaler@htl-saalfelden.at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 Aigner — luca.aigner@htl-saalfelden.at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Lukas Gutmann — lukas.gutmann@htl-saalfelden.at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Clemens Deutinger — clemens.deutinger@htl-saalfelden.at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Bildschirmpräsentation (16:9)</PresentationFormat>
  <Paragraphs>0</Paragraphs>
  <Slides>8</Slides>
  <Notes>8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9" baseType="lpstr"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Getraenkemischer - Zwischenpraesentation</dc:title>
  <dc:subject>PptxGenJS Presentation</dc:subject>
  <dc:creator>Raphael Thaler</dc:creator>
  <cp:lastModifiedBy>Raphael Thaler</cp:lastModifiedBy>
  <cp:revision>53</cp:revision>
  <dcterms:created xsi:type="dcterms:W3CDTF">2026-03-18T14:44:41Z</dcterms:created>
  <dcterms:modified xsi:type="dcterms:W3CDTF">2026-03-18T15:07:19Z</dcterms:modified>
</cp:coreProperties>
</file>